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5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orbel" panose="020B0503020204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8" roundtripDataSignature="AMtx7mgGhBZ066FksK6LVsengSn4AAl2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38F39-CDDA-471A-BDA7-847E630C17E3}" v="513" dt="2026-05-06T13:15:38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hu-H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hu-H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1324455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e13244550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ce13244550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hu-H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1324455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e1324455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ce13244550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hu-H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e3f199d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be3f199df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be3f199df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hu-HU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e3f199df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be3f199dfa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g3be3f199dfa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hu-HU"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sz="9600" b="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akaszfejléc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sz="9600" b="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t tartalomrész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319840" y="1825625"/>
            <a:ext cx="50339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1120000" y="2505075"/>
            <a:ext cx="50252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319840" y="1681163"/>
            <a:ext cx="503554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319840" y="2505075"/>
            <a:ext cx="503554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body" idx="2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éles kép képaláírással">
  <p:cSld name="Széles kép képaláírással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839788" y="987425"/>
            <a:ext cx="10515600" cy="337973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39788" y="5186516"/>
            <a:ext cx="10514012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elirat">
  <p:cSld name="Cím és felira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body" idx="1"/>
          </p:nvPr>
        </p:nvSpPr>
        <p:spPr>
          <a:xfrm>
            <a:off x="839788" y="4489399"/>
            <a:ext cx="10514012" cy="150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dézet képaláírással">
  <p:cSld name="Idézet képaláírással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>
            <a:spLocks noGrp="1"/>
          </p:cNvSpPr>
          <p:nvPr>
            <p:ph type="title"/>
          </p:nvPr>
        </p:nvSpPr>
        <p:spPr>
          <a:xfrm>
            <a:off x="1446212" y="37294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4400"/>
              <a:buFont typeface="Corbe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body" idx="1"/>
          </p:nvPr>
        </p:nvSpPr>
        <p:spPr>
          <a:xfrm>
            <a:off x="1720644" y="3373372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body" idx="2"/>
          </p:nvPr>
        </p:nvSpPr>
        <p:spPr>
          <a:xfrm>
            <a:off x="838200" y="4509544"/>
            <a:ext cx="10512424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dt" idx="10"/>
          </p:nvPr>
        </p:nvSpPr>
        <p:spPr>
          <a:xfrm>
            <a:off x="838200" y="63641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ftr" idx="11"/>
          </p:nvPr>
        </p:nvSpPr>
        <p:spPr>
          <a:xfrm>
            <a:off x="4038600" y="636416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sldNum" idx="12"/>
          </p:nvPr>
        </p:nvSpPr>
        <p:spPr>
          <a:xfrm>
            <a:off x="8610600" y="636416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  <p:sp>
        <p:nvSpPr>
          <p:cNvPr id="92" name="Google Shape;92;p27"/>
          <p:cNvSpPr txBox="1"/>
          <p:nvPr/>
        </p:nvSpPr>
        <p:spPr>
          <a:xfrm>
            <a:off x="1111044" y="79463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lang="hu-HU" sz="8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„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7"/>
          <p:cNvSpPr txBox="1"/>
          <p:nvPr/>
        </p:nvSpPr>
        <p:spPr>
          <a:xfrm>
            <a:off x="10437812" y="275101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lang="hu-HU" sz="8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évjegy">
  <p:cSld name="Névjeg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 txBox="1"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Corbe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body" idx="1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oszlop">
  <p:cSld name="3 oszlop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2"/>
          </p:nvPr>
        </p:nvSpPr>
        <p:spPr>
          <a:xfrm>
            <a:off x="1356798" y="257175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3"/>
          </p:nvPr>
        </p:nvSpPr>
        <p:spPr>
          <a:xfrm>
            <a:off x="4587994" y="188595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body" idx="4"/>
          </p:nvPr>
        </p:nvSpPr>
        <p:spPr>
          <a:xfrm>
            <a:off x="4577441" y="257175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body" idx="5"/>
          </p:nvPr>
        </p:nvSpPr>
        <p:spPr>
          <a:xfrm>
            <a:off x="7829035" y="188595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body" idx="6"/>
          </p:nvPr>
        </p:nvSpPr>
        <p:spPr>
          <a:xfrm>
            <a:off x="7829035" y="257175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époszlop">
  <p:cSld name="3 képoszlop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30"/>
          <p:cNvSpPr>
            <a:spLocks noGrp="1"/>
          </p:cNvSpPr>
          <p:nvPr>
            <p:ph type="pic" idx="2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5" name="Google Shape;115;p30"/>
          <p:cNvSpPr txBox="1">
            <a:spLocks noGrp="1"/>
          </p:cNvSpPr>
          <p:nvPr>
            <p:ph type="body" idx="3"/>
          </p:nvPr>
        </p:nvSpPr>
        <p:spPr>
          <a:xfrm>
            <a:off x="1332085" y="4873765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body" idx="4"/>
          </p:nvPr>
        </p:nvSpPr>
        <p:spPr>
          <a:xfrm>
            <a:off x="4568997" y="4297503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30"/>
          <p:cNvSpPr>
            <a:spLocks noGrp="1"/>
          </p:cNvSpPr>
          <p:nvPr>
            <p:ph type="pic" idx="5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18" name="Google Shape;118;p30"/>
          <p:cNvSpPr txBox="1">
            <a:spLocks noGrp="1"/>
          </p:cNvSpPr>
          <p:nvPr>
            <p:ph type="body" idx="6"/>
          </p:nvPr>
        </p:nvSpPr>
        <p:spPr>
          <a:xfrm>
            <a:off x="4567644" y="4873764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30"/>
          <p:cNvSpPr txBox="1">
            <a:spLocks noGrp="1"/>
          </p:cNvSpPr>
          <p:nvPr>
            <p:ph type="body" idx="7"/>
          </p:nvPr>
        </p:nvSpPr>
        <p:spPr>
          <a:xfrm>
            <a:off x="7804322" y="4297503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0"/>
          <p:cNvSpPr>
            <a:spLocks noGrp="1"/>
          </p:cNvSpPr>
          <p:nvPr>
            <p:ph type="pic" idx="8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21" name="Google Shape;121;p30"/>
          <p:cNvSpPr txBox="1">
            <a:spLocks noGrp="1"/>
          </p:cNvSpPr>
          <p:nvPr>
            <p:ph type="body" idx="9"/>
          </p:nvPr>
        </p:nvSpPr>
        <p:spPr>
          <a:xfrm>
            <a:off x="7804197" y="4873762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 rot="5400000">
            <a:off x="4061231" y="-1115606"/>
            <a:ext cx="4351338" cy="10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üggőleges cím és szöveg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Corbel"/>
              <a:buNone/>
              <a:defRPr sz="54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DEDE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1801285" y="4737014"/>
            <a:ext cx="8369400" cy="753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b" anchorCtr="0">
            <a:normAutofit fontScale="925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hu-HU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Készítette: Füleczki Mózes Márk és Mikó Viktor</a:t>
            </a:r>
            <a:endParaRPr/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332" y="-3498"/>
            <a:ext cx="4598125" cy="4607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Bevezetés</a:t>
            </a:r>
            <a:endParaRPr/>
          </a:p>
        </p:txBody>
      </p:sp>
      <p:sp>
        <p:nvSpPr>
          <p:cNvPr id="149" name="Google Shape;149;p2"/>
          <p:cNvSpPr txBox="1">
            <a:spLocks noGrp="1"/>
          </p:cNvSpPr>
          <p:nvPr>
            <p:ph type="body" idx="1"/>
          </p:nvPr>
        </p:nvSpPr>
        <p:spPr>
          <a:xfrm>
            <a:off x="601132" y="1817158"/>
            <a:ext cx="11590867" cy="435133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Cél: Egy egyszerűen használható receptmegosztó felület létrehozása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Egyéni profilokkal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Felhasználók által feltöltött tartalommal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Recept értékelésekkel (kommentek formájában)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Konyhai segédletekkel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Miért csináljuk a projektet?</a:t>
            </a:r>
            <a:endParaRPr/>
          </a:p>
        </p:txBody>
      </p:sp>
      <p:sp>
        <p:nvSpPr>
          <p:cNvPr id="155" name="Google Shape;155;p3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lang="hu-HU" dirty="0">
                <a:latin typeface="Arial"/>
                <a:ea typeface="Arial"/>
                <a:cs typeface="Arial"/>
                <a:sym typeface="Arial"/>
              </a:rPr>
              <a:t>Úgy gondoltuk, hogy a legtöbb recept / főzős oldal nem elég interaktív, és nincsenek hasznos tippek illetve trükkök rajtuk </a:t>
            </a:r>
            <a:r>
              <a:rPr lang="hu-HU">
                <a:latin typeface="Arial"/>
                <a:ea typeface="Arial"/>
                <a:cs typeface="Arial"/>
                <a:sym typeface="Arial"/>
              </a:rPr>
              <a:t>amiket a felhasználók osztanak meg másokkal. Ezen szeretnénk a Receptbázissal </a:t>
            </a:r>
            <a:r>
              <a:rPr lang="hu-HU" dirty="0">
                <a:latin typeface="Arial"/>
                <a:ea typeface="Arial"/>
                <a:cs typeface="Arial"/>
                <a:sym typeface="Arial"/>
              </a:rPr>
              <a:t>változtatni.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87400" y="0"/>
            <a:ext cx="12104700" cy="11751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4860"/>
              <a:buFont typeface="Corbel"/>
              <a:buNone/>
            </a:pPr>
            <a:r>
              <a:rPr lang="hu-HU" sz="4360"/>
              <a:t>A főoldalon véletlenszerű ajánlások érhetőek el, és rákattintáskor átirányít a recept oldalára</a:t>
            </a:r>
            <a:endParaRPr sz="436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3295E5-C4AC-ED3B-C2B8-576A0E549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21" y="1274209"/>
            <a:ext cx="10623698" cy="5239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13244550_0_8"/>
          <p:cNvSpPr txBox="1">
            <a:spLocks noGrp="1"/>
          </p:cNvSpPr>
          <p:nvPr>
            <p:ph type="title"/>
          </p:nvPr>
        </p:nvSpPr>
        <p:spPr>
          <a:xfrm>
            <a:off x="801025" y="0"/>
            <a:ext cx="10515600" cy="1325700"/>
          </a:xfrm>
          <a:prstGeom prst="rect">
            <a:avLst/>
          </a:prstGeom>
          <a:effectLst>
            <a:outerShdw dist="9525" dir="5400000" algn="bl" rotWithShape="0">
              <a:schemeClr val="dk1"/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/>
            <a:r>
              <a:rPr lang="hu-HU"/>
              <a:t>Oldalunk  kategóriák szerinti kereséssel is rendelkezik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E612F6-CD5A-53F6-7408-3F83751C4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933" y="1497419"/>
            <a:ext cx="23812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08CD3C-4AE2-E291-82E3-F14A35448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8" y="505859"/>
            <a:ext cx="11881884" cy="5837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838200" y="-44625"/>
            <a:ext cx="10515600" cy="17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hu-HU"/>
              <a:t>A felhasználói profil kinézete saját szemszögből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77C9DC-9187-A1A3-055F-74204B678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047" y="1690651"/>
            <a:ext cx="9657907" cy="4726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17DF-D381-3F4F-C919-9816E7E10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6"/>
            <a:ext cx="10515600" cy="1325563"/>
          </a:xfrm>
        </p:spPr>
        <p:txBody>
          <a:bodyPr/>
          <a:lstStyle/>
          <a:p>
            <a:pPr algn="ctr"/>
            <a:r>
              <a:rPr lang="en-US" sz="4900" dirty="0"/>
              <a:t>Admin </a:t>
            </a:r>
            <a:r>
              <a:rPr lang="en-US" sz="4900" dirty="0" err="1"/>
              <a:t>panelünk</a:t>
            </a:r>
            <a:r>
              <a:rPr lang="en-US" sz="4900" dirty="0"/>
              <a:t> </a:t>
            </a:r>
            <a:r>
              <a:rPr lang="en-US" sz="4900" dirty="0" err="1"/>
              <a:t>kinézete</a:t>
            </a:r>
            <a:endParaRPr lang="en-US" sz="4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FDB22-B70C-8203-0FAE-9B016FA62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44" y="1442558"/>
            <a:ext cx="10508512" cy="51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>
            <a:spLocks noGrp="1"/>
          </p:cNvSpPr>
          <p:nvPr>
            <p:ph type="title"/>
          </p:nvPr>
        </p:nvSpPr>
        <p:spPr>
          <a:xfrm>
            <a:off x="4064007" y="60326"/>
            <a:ext cx="4064100" cy="1092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Regisztráció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1295425" y="5992988"/>
            <a:ext cx="9795900" cy="83095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hu-HU" sz="2400">
                <a:solidFill>
                  <a:schemeClr val="lt1"/>
                </a:solidFill>
              </a:rPr>
              <a:t>     </a:t>
            </a:r>
            <a:r>
              <a:rPr lang="hu-H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MySQL-ben Elmentett Felhasználói adatok </a:t>
            </a:r>
            <a:endParaRPr lang="en-US" dirty="0">
              <a:solidFill>
                <a:schemeClr val="lt1"/>
              </a:solidFill>
            </a:endParaRPr>
          </a:p>
          <a:p>
            <a:pPr>
              <a:buSzPts val="2400"/>
            </a:pPr>
            <a:r>
              <a:rPr lang="hu-HU" sz="2400">
                <a:solidFill>
                  <a:schemeClr val="lt1"/>
                </a:solidFill>
              </a:rPr>
              <a:t>       </a:t>
            </a:r>
            <a:r>
              <a:rPr lang="hu-H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(Felhasználónév</a:t>
            </a:r>
            <a:r>
              <a:rPr lang="hu-HU" sz="2400">
                <a:solidFill>
                  <a:schemeClr val="lt1"/>
                </a:solidFill>
              </a:rPr>
              <a:t>, E-mail </a:t>
            </a:r>
            <a:r>
              <a:rPr lang="hu-H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és </a:t>
            </a:r>
            <a:r>
              <a:rPr lang="hu-HU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Jelszó)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7790DD-847E-A97C-1B9A-6E5D2F096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e3f199dfa_0_0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466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rPr lang="hu-HU"/>
              <a:t>Egyszerű adatfeltöltés a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rPr lang="hu-HU"/>
              <a:t>felhasználók számára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21C901-9D38-44AD-0DF3-42A80FCF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796" y="1470838"/>
            <a:ext cx="3664409" cy="51833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 txBox="1">
            <a:spLocks noGrp="1"/>
          </p:cNvSpPr>
          <p:nvPr>
            <p:ph type="title"/>
          </p:nvPr>
        </p:nvSpPr>
        <p:spPr>
          <a:xfrm>
            <a:off x="838200" y="1"/>
            <a:ext cx="10515600" cy="1603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Corbel"/>
              <a:buNone/>
            </a:pPr>
            <a:r>
              <a:rPr lang="hu-HU"/>
              <a:t>Az SQL adatbázisunk kapcsolatai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2D1D4B-EBC7-F910-AA2A-1AF470C19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686" y="1603412"/>
            <a:ext cx="6246628" cy="4944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Használt technológiák</a:t>
            </a:r>
            <a:endParaRPr/>
          </a:p>
        </p:txBody>
      </p:sp>
      <p:sp>
        <p:nvSpPr>
          <p:cNvPr id="206" name="Google Shape;206;p4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PHP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CSS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SQL (MySQL)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 txBox="1"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Funkciók</a:t>
            </a:r>
            <a:endParaRPr/>
          </a:p>
        </p:txBody>
      </p:sp>
      <p:sp>
        <p:nvSpPr>
          <p:cNvPr id="212" name="Google Shape;212;p5"/>
          <p:cNvSpPr txBox="1">
            <a:spLocks noGrp="1"/>
          </p:cNvSpPr>
          <p:nvPr>
            <p:ph type="body" idx="1"/>
          </p:nvPr>
        </p:nvSpPr>
        <p:spPr>
          <a:xfrm>
            <a:off x="423333" y="1825625"/>
            <a:ext cx="11675534" cy="435133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3200"/>
              <a:buChar char="•"/>
            </a:pPr>
            <a:r>
              <a:rPr lang="hu-HU" sz="3200">
                <a:latin typeface="Arial"/>
                <a:ea typeface="Arial"/>
                <a:cs typeface="Arial"/>
                <a:sym typeface="Arial"/>
              </a:rPr>
              <a:t>Profil készítése és szerkesztése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3200"/>
              <a:buChar char="•"/>
            </a:pPr>
            <a:r>
              <a:rPr lang="hu-HU" sz="3200">
                <a:latin typeface="Arial"/>
                <a:ea typeface="Arial"/>
                <a:cs typeface="Arial"/>
                <a:sym typeface="Arial"/>
              </a:rPr>
              <a:t>Egyszerű felhasználó általi tartalom feltöltés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3200"/>
              <a:buChar char="•"/>
            </a:pPr>
            <a:r>
              <a:rPr lang="hu-HU" sz="3200">
                <a:latin typeface="Arial"/>
                <a:ea typeface="Arial"/>
                <a:cs typeface="Arial"/>
                <a:sym typeface="Arial"/>
              </a:rPr>
              <a:t>Kommentek írása más felhasználók által feltöltött tartalom alá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3200"/>
              <a:buChar char="•"/>
            </a:pPr>
            <a:r>
              <a:rPr lang="hu-HU" sz="3200">
                <a:latin typeface="Arial"/>
                <a:ea typeface="Arial"/>
                <a:cs typeface="Arial"/>
                <a:sym typeface="Arial"/>
              </a:rPr>
              <a:t>Oldal kinézetének testreszabása (sötét és világos téma)</a:t>
            </a:r>
            <a:endParaRPr/>
          </a:p>
          <a:p>
            <a:pPr marL="22860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320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marL="22860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3200"/>
              <a:buNone/>
            </a:pP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439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Az oldalunk Konyhai Fogalmak része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D10D4-7B00-9C86-275B-2EEA4B9CE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6" y="1439383"/>
            <a:ext cx="9897139" cy="48564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e3f199dfa_1_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hu-HU"/>
              <a:t>Munkamegosztás</a:t>
            </a:r>
            <a:endParaRPr/>
          </a:p>
        </p:txBody>
      </p:sp>
      <p:sp>
        <p:nvSpPr>
          <p:cNvPr id="225" name="Google Shape;225;g3be3f199dfa_1_7"/>
          <p:cNvSpPr txBox="1">
            <a:spLocks noGrp="1"/>
          </p:cNvSpPr>
          <p:nvPr>
            <p:ph type="body" idx="1"/>
          </p:nvPr>
        </p:nvSpPr>
        <p:spPr>
          <a:xfrm>
            <a:off x="1119900" y="1833050"/>
            <a:ext cx="10233900" cy="4351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buNone/>
            </a:pPr>
            <a:r>
              <a:rPr lang="hu-HU"/>
              <a:t>Mikó Viktor: Frontend fejlesztése, és útmutató készítése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hu-HU"/>
              <a:t>Füleczki Mózes Márk: Backend fejlesztése, illetve a dokumentáció készítése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838200" y="1847"/>
            <a:ext cx="10515600" cy="73423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rPr lang="hu-HU"/>
              <a:t>További terveink a projekttel</a:t>
            </a:r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body" idx="1"/>
          </p:nvPr>
        </p:nvSpPr>
        <p:spPr>
          <a:xfrm>
            <a:off x="842012" y="735788"/>
            <a:ext cx="10180382" cy="544103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>
              <a:spcBef>
                <a:spcPts val="0"/>
              </a:spcBef>
            </a:pPr>
            <a:r>
              <a:rPr lang="hu-HU" dirty="0"/>
              <a:t>Kommentek, és receptek szerkesztésének hozzáadása.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>
              <a:spcBef>
                <a:spcPts val="0"/>
              </a:spcBef>
            </a:pPr>
            <a:r>
              <a:rPr lang="hu-HU" dirty="0"/>
              <a:t>Receptek megoszthatóságának egyszerűbbé tétele: (Instagram, Facebook, </a:t>
            </a:r>
            <a:r>
              <a:rPr lang="hu-HU" dirty="0" err="1"/>
              <a:t>Twitter</a:t>
            </a:r>
            <a:r>
              <a:rPr lang="hu-HU" dirty="0"/>
              <a:t> / X instant megosztás)</a:t>
            </a:r>
          </a:p>
          <a:p>
            <a:pPr>
              <a:spcBef>
                <a:spcPts val="0"/>
              </a:spcBef>
            </a:pPr>
            <a:endParaRPr lang="hu-HU" dirty="0"/>
          </a:p>
          <a:p>
            <a:pPr>
              <a:spcBef>
                <a:spcPts val="0"/>
              </a:spcBef>
            </a:pPr>
            <a:r>
              <a:rPr lang="hu-HU" dirty="0"/>
              <a:t>Felhasználói profilok státuszainak hozzáadása: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hu-HU" dirty="0"/>
              <a:t> Korlátozás nélküli felhasználó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hu-HU" dirty="0"/>
              <a:t> Részben korlátozott (Egy hétig nem tölthet fel tartalmat,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hu-HU" dirty="0"/>
              <a:t>     illetve nem </a:t>
            </a:r>
            <a:r>
              <a:rPr lang="hu-HU" dirty="0" err="1"/>
              <a:t>kommentelhet</a:t>
            </a:r>
            <a:r>
              <a:rPr lang="hu-HU" dirty="0"/>
              <a:t>), 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hu-HU" dirty="0"/>
              <a:t> Kitiltott (nem </a:t>
            </a:r>
            <a:r>
              <a:rPr lang="hu-HU" dirty="0" err="1"/>
              <a:t>kommentelhet</a:t>
            </a:r>
            <a:r>
              <a:rPr lang="hu-HU" dirty="0"/>
              <a:t>, tölthet fel recepteket és nem</a:t>
            </a:r>
          </a:p>
          <a:p>
            <a:pPr marL="114300" indent="0">
              <a:spcBef>
                <a:spcPts val="0"/>
              </a:spcBef>
              <a:buNone/>
            </a:pPr>
            <a:r>
              <a:rPr lang="hu-HU" dirty="0"/>
              <a:t> készíthet új profilt.)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838200" y="2634190"/>
            <a:ext cx="10515600" cy="132556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5400"/>
              <a:buFont typeface="Arial"/>
              <a:buNone/>
            </a:pPr>
            <a:r>
              <a:rPr lang="hu-HU">
                <a:latin typeface="Arial"/>
                <a:ea typeface="Arial"/>
                <a:cs typeface="Arial"/>
                <a:sym typeface="Arial"/>
              </a:rPr>
              <a:t>Köszönjük a figyelmet!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élység">
  <a:themeElements>
    <a:clrScheme name="Depth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Szélesvásznú</PresentationFormat>
  <Paragraphs>51</Paragraphs>
  <Slides>17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Corbel</vt:lpstr>
      <vt:lpstr>Calibri</vt:lpstr>
      <vt:lpstr>Mélység</vt:lpstr>
      <vt:lpstr>PowerPoint-bemutató</vt:lpstr>
      <vt:lpstr>Bevezetés</vt:lpstr>
      <vt:lpstr>Miért csináljuk a projektet?</vt:lpstr>
      <vt:lpstr>A főoldalon véletlenszerű ajánlások érhetőek el, és rákattintáskor átirányít a recept oldalára</vt:lpstr>
      <vt:lpstr>Oldalunk  kategóriák szerinti kereséssel is rendelkezik</vt:lpstr>
      <vt:lpstr>PowerPoint-bemutató</vt:lpstr>
      <vt:lpstr>A felhasználói profil kinézete saját szemszögből</vt:lpstr>
      <vt:lpstr>Admin panelünk kinézete</vt:lpstr>
      <vt:lpstr>Regisztráció</vt:lpstr>
      <vt:lpstr>Egyszerű adatfeltöltés a  felhasználók számára</vt:lpstr>
      <vt:lpstr>Az SQL adatbázisunk kapcsolatai</vt:lpstr>
      <vt:lpstr>Használt technológiák</vt:lpstr>
      <vt:lpstr>Funkciók</vt:lpstr>
      <vt:lpstr>Az oldalunk Konyhai Fogalmak része</vt:lpstr>
      <vt:lpstr>Munkamegosztás</vt:lpstr>
      <vt:lpstr>További terveink a projekttel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cp:lastModifiedBy>Mikó Viktor</cp:lastModifiedBy>
  <cp:revision>122</cp:revision>
  <dcterms:created xsi:type="dcterms:W3CDTF">2026-01-06T07:41:58Z</dcterms:created>
  <dcterms:modified xsi:type="dcterms:W3CDTF">2026-05-19T06:20:38Z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