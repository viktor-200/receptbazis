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9"/>
    <p:sldId id="265" r:id="rId10"/>
    <p:sldId id="263" r:id="rId11"/>
    <p:sldId id="264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embeddedFontLst>
    <p:embeddedFont>
      <p:font typeface="Corbel" panose="020B0503020204020204" pitchFamily="3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25" roundtripDataSignature="AMtx7mgGhBZ066FksK6LVsengSn4AAl2/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38F39-CDDA-471A-BDA7-847E630C17E3}" v="513" dt="2026-05-06T13:15:38.3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hu-H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hu-H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6" name="Google Shape;14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2" name="Google Shape;15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8" name="Google Shape;15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e13244550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e13244550_0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g3ce13244550_0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hu-HU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e13244550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e13244550_0_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3ce13244550_0_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hu-HU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6" name="Google Shape;19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e3f199df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g3be3f199dfa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4" name="Google Shape;184;g3be3f199dfa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hu-HU"/>
              <a:t>10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0" name="Google Shape;19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3" name="Google Shape;20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9" name="Google Shape;2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15" name="Google Shape;21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be3f199dfa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" name="Google Shape;221;g3be3f199dfa_1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2" name="Google Shape;222;g3be3f199dfa_1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hu-HU"/>
              <a:t>15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8" name="Google Shape;22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34" name="Google Shape;23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2E2E2"/>
              </a:buClr>
              <a:buSzPts val="9600"/>
              <a:buFont typeface="Corbel"/>
              <a:buNone/>
              <a:defRPr sz="9600" b="0">
                <a:solidFill>
                  <a:srgbClr val="E2E2E2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3200"/>
              <a:buNone/>
              <a:defRPr sz="3200" b="0">
                <a:solidFill>
                  <a:schemeClr val="lt2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2E2E2"/>
              </a:buClr>
              <a:buSzPts val="9600"/>
              <a:buFont typeface="Corbel"/>
              <a:buNone/>
              <a:defRPr sz="9600" b="0">
                <a:solidFill>
                  <a:srgbClr val="E2E2E2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3200"/>
              <a:buNone/>
              <a:defRPr sz="3200" b="0">
                <a:solidFill>
                  <a:schemeClr val="lt2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t tartalomrész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body" idx="1"/>
          </p:nvPr>
        </p:nvSpPr>
        <p:spPr>
          <a:xfrm>
            <a:off x="1120000" y="1825625"/>
            <a:ext cx="502521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body" idx="2"/>
          </p:nvPr>
        </p:nvSpPr>
        <p:spPr>
          <a:xfrm>
            <a:off x="6319840" y="1825625"/>
            <a:ext cx="503396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sz="2400" b="0">
                <a:solidFill>
                  <a:schemeClr val="lt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body" idx="2"/>
          </p:nvPr>
        </p:nvSpPr>
        <p:spPr>
          <a:xfrm>
            <a:off x="1120000" y="2505075"/>
            <a:ext cx="5025216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20"/>
          <p:cNvSpPr txBox="1">
            <a:spLocks noGrp="1"/>
          </p:cNvSpPr>
          <p:nvPr>
            <p:ph type="body" idx="3"/>
          </p:nvPr>
        </p:nvSpPr>
        <p:spPr>
          <a:xfrm>
            <a:off x="6319840" y="1681163"/>
            <a:ext cx="503554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sz="2400" b="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body" idx="4"/>
          </p:nvPr>
        </p:nvSpPr>
        <p:spPr>
          <a:xfrm>
            <a:off x="6319840" y="2505075"/>
            <a:ext cx="503554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3200"/>
              <a:buFont typeface="Corbe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1120000" y="2057400"/>
            <a:ext cx="3652025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3200"/>
              <a:buFont typeface="Corbe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1120000" y="2057400"/>
            <a:ext cx="3652025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éles kép képaláírással">
  <p:cSld name="Széles kép képaláírással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3200"/>
              <a:buFont typeface="Corbe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>
            <a:spLocks noGrp="1"/>
          </p:cNvSpPr>
          <p:nvPr>
            <p:ph type="pic" idx="2"/>
          </p:nvPr>
        </p:nvSpPr>
        <p:spPr>
          <a:xfrm>
            <a:off x="839788" y="987425"/>
            <a:ext cx="10515600" cy="3379735"/>
          </a:xfrm>
          <a:prstGeom prst="rect">
            <a:avLst/>
          </a:prstGeom>
          <a:noFill/>
          <a:ln>
            <a:noFill/>
          </a:ln>
        </p:spPr>
      </p:sp>
      <p:sp>
        <p:nvSpPr>
          <p:cNvPr id="75" name="Google Shape;75;p25"/>
          <p:cNvSpPr txBox="1">
            <a:spLocks noGrp="1"/>
          </p:cNvSpPr>
          <p:nvPr>
            <p:ph type="body" idx="1"/>
          </p:nvPr>
        </p:nvSpPr>
        <p:spPr>
          <a:xfrm>
            <a:off x="839788" y="5186516"/>
            <a:ext cx="10514012" cy="682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elirat">
  <p:cSld name="Cím és felira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3200"/>
              <a:buFont typeface="Corbel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body" idx="1"/>
          </p:nvPr>
        </p:nvSpPr>
        <p:spPr>
          <a:xfrm>
            <a:off x="839788" y="4489399"/>
            <a:ext cx="10514012" cy="1501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dézet képaláírással">
  <p:cSld name="Idézet képaláírással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"/>
          <p:cNvSpPr txBox="1">
            <a:spLocks noGrp="1"/>
          </p:cNvSpPr>
          <p:nvPr>
            <p:ph type="title"/>
          </p:nvPr>
        </p:nvSpPr>
        <p:spPr>
          <a:xfrm>
            <a:off x="1446212" y="372940"/>
            <a:ext cx="9302752" cy="2992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4400"/>
              <a:buFont typeface="Corbel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body" idx="1"/>
          </p:nvPr>
        </p:nvSpPr>
        <p:spPr>
          <a:xfrm>
            <a:off x="1720644" y="3373372"/>
            <a:ext cx="8752299" cy="548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8" name="Google Shape;88;p27"/>
          <p:cNvSpPr txBox="1">
            <a:spLocks noGrp="1"/>
          </p:cNvSpPr>
          <p:nvPr>
            <p:ph type="body" idx="2"/>
          </p:nvPr>
        </p:nvSpPr>
        <p:spPr>
          <a:xfrm>
            <a:off x="838200" y="4509544"/>
            <a:ext cx="10512424" cy="148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27"/>
          <p:cNvSpPr txBox="1">
            <a:spLocks noGrp="1"/>
          </p:cNvSpPr>
          <p:nvPr>
            <p:ph type="dt" idx="10"/>
          </p:nvPr>
        </p:nvSpPr>
        <p:spPr>
          <a:xfrm>
            <a:off x="838200" y="636416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7"/>
          <p:cNvSpPr txBox="1">
            <a:spLocks noGrp="1"/>
          </p:cNvSpPr>
          <p:nvPr>
            <p:ph type="ftr" idx="11"/>
          </p:nvPr>
        </p:nvSpPr>
        <p:spPr>
          <a:xfrm>
            <a:off x="4038600" y="6364165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7"/>
          <p:cNvSpPr txBox="1">
            <a:spLocks noGrp="1"/>
          </p:cNvSpPr>
          <p:nvPr>
            <p:ph type="sldNum" idx="12"/>
          </p:nvPr>
        </p:nvSpPr>
        <p:spPr>
          <a:xfrm>
            <a:off x="8610600" y="636416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92" name="Google Shape;92;p27"/>
          <p:cNvSpPr txBox="1"/>
          <p:nvPr/>
        </p:nvSpPr>
        <p:spPr>
          <a:xfrm>
            <a:off x="1111044" y="794639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orbel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rPr>
              <a:t>„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7"/>
          <p:cNvSpPr txBox="1"/>
          <p:nvPr/>
        </p:nvSpPr>
        <p:spPr>
          <a:xfrm>
            <a:off x="10437812" y="2751015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orbel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rPr>
              <a:t>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évjegy">
  <p:cSld name="Névjegy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8"/>
          <p:cNvSpPr txBox="1"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Corbel"/>
              <a:buNone/>
              <a:defRPr sz="5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8"/>
          <p:cNvSpPr txBox="1">
            <a:spLocks noGrp="1"/>
          </p:cNvSpPr>
          <p:nvPr>
            <p:ph type="body" idx="1"/>
          </p:nvPr>
        </p:nvSpPr>
        <p:spPr>
          <a:xfrm>
            <a:off x="839788" y="4850581"/>
            <a:ext cx="10514012" cy="1140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7" name="Google Shape;97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oszlop">
  <p:cSld name="3 oszlop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9"/>
          <p:cNvSpPr txBox="1"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sz="2400" b="0">
                <a:solidFill>
                  <a:schemeClr val="lt2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3" name="Google Shape;103;p29"/>
          <p:cNvSpPr txBox="1">
            <a:spLocks noGrp="1"/>
          </p:cNvSpPr>
          <p:nvPr>
            <p:ph type="body" idx="2"/>
          </p:nvPr>
        </p:nvSpPr>
        <p:spPr>
          <a:xfrm>
            <a:off x="1356798" y="2571750"/>
            <a:ext cx="2927350" cy="3589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4" name="Google Shape;104;p29"/>
          <p:cNvSpPr txBox="1">
            <a:spLocks noGrp="1"/>
          </p:cNvSpPr>
          <p:nvPr>
            <p:ph type="body" idx="3"/>
          </p:nvPr>
        </p:nvSpPr>
        <p:spPr>
          <a:xfrm>
            <a:off x="4587994" y="1885950"/>
            <a:ext cx="2936241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sz="2400" b="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5" name="Google Shape;105;p29"/>
          <p:cNvSpPr txBox="1">
            <a:spLocks noGrp="1"/>
          </p:cNvSpPr>
          <p:nvPr>
            <p:ph type="body" idx="4"/>
          </p:nvPr>
        </p:nvSpPr>
        <p:spPr>
          <a:xfrm>
            <a:off x="4577441" y="2571750"/>
            <a:ext cx="2946794" cy="3589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6" name="Google Shape;106;p29"/>
          <p:cNvSpPr txBox="1">
            <a:spLocks noGrp="1"/>
          </p:cNvSpPr>
          <p:nvPr>
            <p:ph type="body" idx="5"/>
          </p:nvPr>
        </p:nvSpPr>
        <p:spPr>
          <a:xfrm>
            <a:off x="7829035" y="1885950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sz="2400" b="0">
                <a:solidFill>
                  <a:schemeClr val="lt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29"/>
          <p:cNvSpPr txBox="1">
            <a:spLocks noGrp="1"/>
          </p:cNvSpPr>
          <p:nvPr>
            <p:ph type="body" idx="6"/>
          </p:nvPr>
        </p:nvSpPr>
        <p:spPr>
          <a:xfrm>
            <a:off x="7829035" y="2571750"/>
            <a:ext cx="2932113" cy="3589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8" name="Google Shape;10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képoszlop">
  <p:cSld name="3 képoszlop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30"/>
          <p:cNvSpPr txBox="1"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400"/>
              <a:buNone/>
              <a:defRPr sz="2400" b="0">
                <a:solidFill>
                  <a:srgbClr val="EDEDED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4" name="Google Shape;114;p30"/>
          <p:cNvSpPr>
            <a:spLocks noGrp="1"/>
          </p:cNvSpPr>
          <p:nvPr>
            <p:ph type="pic" idx="2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15" name="Google Shape;115;p30"/>
          <p:cNvSpPr txBox="1">
            <a:spLocks noGrp="1"/>
          </p:cNvSpPr>
          <p:nvPr>
            <p:ph type="body" idx="3"/>
          </p:nvPr>
        </p:nvSpPr>
        <p:spPr>
          <a:xfrm>
            <a:off x="1332085" y="4873765"/>
            <a:ext cx="2940050" cy="659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6" name="Google Shape;116;p30"/>
          <p:cNvSpPr txBox="1">
            <a:spLocks noGrp="1"/>
          </p:cNvSpPr>
          <p:nvPr>
            <p:ph type="body" idx="4"/>
          </p:nvPr>
        </p:nvSpPr>
        <p:spPr>
          <a:xfrm>
            <a:off x="4568997" y="4297503"/>
            <a:ext cx="2930525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400"/>
              <a:buNone/>
              <a:defRPr sz="2400" b="0">
                <a:solidFill>
                  <a:srgbClr val="EDEDED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7" name="Google Shape;117;p30"/>
          <p:cNvSpPr>
            <a:spLocks noGrp="1"/>
          </p:cNvSpPr>
          <p:nvPr>
            <p:ph type="pic" idx="5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18" name="Google Shape;118;p30"/>
          <p:cNvSpPr txBox="1">
            <a:spLocks noGrp="1"/>
          </p:cNvSpPr>
          <p:nvPr>
            <p:ph type="body" idx="6"/>
          </p:nvPr>
        </p:nvSpPr>
        <p:spPr>
          <a:xfrm>
            <a:off x="4567644" y="4873764"/>
            <a:ext cx="2934406" cy="659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9" name="Google Shape;119;p30"/>
          <p:cNvSpPr txBox="1">
            <a:spLocks noGrp="1"/>
          </p:cNvSpPr>
          <p:nvPr>
            <p:ph type="body" idx="7"/>
          </p:nvPr>
        </p:nvSpPr>
        <p:spPr>
          <a:xfrm>
            <a:off x="7804322" y="4297503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400"/>
              <a:buNone/>
              <a:defRPr sz="2400" b="0">
                <a:solidFill>
                  <a:srgbClr val="EDEDED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0" name="Google Shape;120;p30"/>
          <p:cNvSpPr>
            <a:spLocks noGrp="1"/>
          </p:cNvSpPr>
          <p:nvPr>
            <p:ph type="pic" idx="8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2745"/>
              </a:srgbClr>
            </a:outerShdw>
          </a:effectLst>
        </p:spPr>
      </p:sp>
      <p:sp>
        <p:nvSpPr>
          <p:cNvPr id="121" name="Google Shape;121;p30"/>
          <p:cNvSpPr txBox="1">
            <a:spLocks noGrp="1"/>
          </p:cNvSpPr>
          <p:nvPr>
            <p:ph type="body" idx="9"/>
          </p:nvPr>
        </p:nvSpPr>
        <p:spPr>
          <a:xfrm>
            <a:off x="7804197" y="4873762"/>
            <a:ext cx="2935997" cy="659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2" name="Google Shape;122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body" idx="1"/>
          </p:nvPr>
        </p:nvSpPr>
        <p:spPr>
          <a:xfrm rot="5400000">
            <a:off x="4061231" y="-1115606"/>
            <a:ext cx="4351338" cy="102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9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Corbel"/>
              <a:buNone/>
              <a:defRPr sz="54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DEDED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EDEDED"/>
                </a:solidFill>
                <a:latin typeface="Corbel"/>
                <a:ea typeface="Corbel"/>
                <a:cs typeface="Corbel"/>
                <a:sym typeface="Corbe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mc:AlternateContent xmlns:mc="http://schemas.openxmlformats.org/markup-compatibility/2006" xmlns:p14="http://schemas.microsoft.com/office/powerpoint/2010/main">
    <mc:Choice Requires="p14">
      <p:transition spd="slow">
        <p:push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"/>
          <p:cNvSpPr txBox="1">
            <a:spLocks noGrp="1"/>
          </p:cNvSpPr>
          <p:nvPr>
            <p:ph type="subTitle" idx="1"/>
          </p:nvPr>
        </p:nvSpPr>
        <p:spPr>
          <a:xfrm>
            <a:off x="1801285" y="4737014"/>
            <a:ext cx="8369400" cy="7539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b" anchorCtr="0">
            <a:normAutofit fontScale="925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hu-HU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Készítette: Füleczki Mózes Márk és Mikó Viktor</a:t>
            </a:r>
            <a:endParaRPr/>
          </a:p>
        </p:txBody>
      </p:sp>
      <p:pic>
        <p:nvPicPr>
          <p:cNvPr id="143" name="Google Shape;1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94332" y="-3498"/>
            <a:ext cx="4598125" cy="46078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"/>
          <p:cNvSpPr txBox="1">
            <a:spLocks noGrp="1"/>
          </p:cNvSpPr>
          <p:nvPr>
            <p:ph type="title"/>
          </p:nvPr>
        </p:nvSpPr>
        <p:spPr>
          <a:xfrm>
            <a:off x="838200" y="85725"/>
            <a:ext cx="10515600" cy="1325563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Arial"/>
              <a:buNone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Bevezetés</a:t>
            </a:r>
            <a:endParaRPr/>
          </a:p>
        </p:txBody>
      </p:sp>
      <p:sp>
        <p:nvSpPr>
          <p:cNvPr id="149" name="Google Shape;149;p2"/>
          <p:cNvSpPr txBox="1">
            <a:spLocks noGrp="1"/>
          </p:cNvSpPr>
          <p:nvPr>
            <p:ph type="body" idx="1"/>
          </p:nvPr>
        </p:nvSpPr>
        <p:spPr>
          <a:xfrm>
            <a:off x="601132" y="1817158"/>
            <a:ext cx="11590867" cy="435133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Cél: Egy egyszerűen használható receptmegosztó felület létrehozása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Egyéni profilokkal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Felhasználók által feltöltött tartalommal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Recept értékelésekkel (kommentek formájában)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Konyhai segédletekkel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Arial"/>
              <a:buNone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Miért csináljuk a projektet?</a:t>
            </a:r>
            <a:endParaRPr/>
          </a:p>
        </p:txBody>
      </p:sp>
      <p:sp>
        <p:nvSpPr>
          <p:cNvPr id="155" name="Google Shape;155;p3"/>
          <p:cNvSpPr txBox="1"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spcBef>
                <a:spcPts val="0"/>
              </a:spcBef>
              <a:buSzPts val="2800"/>
              <a:buNone/>
            </a:pPr>
            <a:r>
              <a:rPr lang="hu-HU" dirty="0">
                <a:latin typeface="Arial"/>
                <a:ea typeface="Arial"/>
                <a:cs typeface="Arial"/>
                <a:sym typeface="Arial"/>
              </a:rPr>
              <a:t>Úgy gondoltuk, hogy a legtöbb recept / főzős oldal nem elég interaktív, és nincsenek hasznos tippek illetve trükkök rajtuk </a:t>
            </a:r>
            <a:r>
              <a:rPr lang="hu-HU">
                <a:latin typeface="Arial"/>
                <a:ea typeface="Arial"/>
                <a:cs typeface="Arial"/>
                <a:sym typeface="Arial"/>
              </a:rPr>
              <a:t>amiket a felhasználók osztanak meg másokkal. Ezen szeretnénk a Receptbázissal </a:t>
            </a:r>
            <a:r>
              <a:rPr lang="hu-HU" dirty="0">
                <a:latin typeface="Arial"/>
                <a:ea typeface="Arial"/>
                <a:cs typeface="Arial"/>
                <a:sym typeface="Arial"/>
              </a:rPr>
              <a:t>változtatni.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>
            <a:spLocks noGrp="1"/>
          </p:cNvSpPr>
          <p:nvPr>
            <p:ph type="title"/>
          </p:nvPr>
        </p:nvSpPr>
        <p:spPr>
          <a:xfrm>
            <a:off x="87400" y="0"/>
            <a:ext cx="12104700" cy="11751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4860"/>
              <a:buFont typeface="Corbel"/>
              <a:buNone/>
            </a:pPr>
            <a:r>
              <a:rPr lang="hu-HU" sz="4360"/>
              <a:t>A főoldalon véletlenszerű ajánlások érhetőek el, és rákattintáskor átirányít a recept oldalára</a:t>
            </a:r>
            <a:endParaRPr sz="436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3295E5-C4AC-ED3B-C2B8-576A0E549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721" y="1274209"/>
            <a:ext cx="10623698" cy="52399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e13244550_0_8"/>
          <p:cNvSpPr txBox="1">
            <a:spLocks noGrp="1"/>
          </p:cNvSpPr>
          <p:nvPr>
            <p:ph type="title"/>
          </p:nvPr>
        </p:nvSpPr>
        <p:spPr>
          <a:xfrm>
            <a:off x="801025" y="0"/>
            <a:ext cx="10515600" cy="1325700"/>
          </a:xfrm>
          <a:prstGeom prst="rect">
            <a:avLst/>
          </a:prstGeom>
          <a:effectLst>
            <a:outerShdw dist="9525" dir="5400000" algn="bl" rotWithShape="0">
              <a:schemeClr val="dk1"/>
            </a:outerShdw>
          </a:effectLst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algn="ctr"/>
            <a:r>
              <a:rPr lang="hu-HU"/>
              <a:t>Oldalunk  kategóriák szerinti kereséssel is rendelkezik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E612F6-CD5A-53F6-7408-3F83751C4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9933" y="1497419"/>
            <a:ext cx="23812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708CD3C-4AE2-E291-82E3-F14A3544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28" y="505859"/>
            <a:ext cx="11881884" cy="58374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"/>
          <p:cNvSpPr txBox="1">
            <a:spLocks noGrp="1"/>
          </p:cNvSpPr>
          <p:nvPr>
            <p:ph type="title"/>
          </p:nvPr>
        </p:nvSpPr>
        <p:spPr>
          <a:xfrm>
            <a:off x="838200" y="-44625"/>
            <a:ext cx="10515600" cy="17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hu-HU"/>
              <a:t>A felhasználói profil kinézete saját szemszögből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877C9DC-9187-A1A3-055F-74204B678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047" y="1690651"/>
            <a:ext cx="9657907" cy="47260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17DF-D381-3F4F-C919-9816E7E10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6"/>
            <a:ext cx="10515600" cy="1325563"/>
          </a:xfrm>
        </p:spPr>
        <p:txBody>
          <a:bodyPr/>
          <a:lstStyle/>
          <a:p>
            <a:pPr algn="ctr"/>
            <a:r>
              <a:rPr lang="en-US" sz="4900" dirty="0"/>
              <a:t>Admin </a:t>
            </a:r>
            <a:r>
              <a:rPr lang="en-US" sz="4900" dirty="0" err="1"/>
              <a:t>panelünk</a:t>
            </a:r>
            <a:r>
              <a:rPr lang="en-US" sz="4900" dirty="0"/>
              <a:t> </a:t>
            </a:r>
            <a:r>
              <a:rPr lang="en-US" sz="4900" dirty="0" err="1"/>
              <a:t>kinézete</a:t>
            </a:r>
            <a:endParaRPr lang="en-US" sz="49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7FDB22-B70C-8203-0FAE-9B016FA62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44" y="1442558"/>
            <a:ext cx="10508512" cy="515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0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"/>
          <p:cNvSpPr txBox="1">
            <a:spLocks noGrp="1"/>
          </p:cNvSpPr>
          <p:nvPr>
            <p:ph type="title"/>
          </p:nvPr>
        </p:nvSpPr>
        <p:spPr>
          <a:xfrm>
            <a:off x="4064007" y="60326"/>
            <a:ext cx="4064100" cy="10923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Arial"/>
              <a:buNone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Regisztráció</a:t>
            </a:r>
            <a:endParaRPr/>
          </a:p>
        </p:txBody>
      </p:sp>
      <p:sp>
        <p:nvSpPr>
          <p:cNvPr id="199" name="Google Shape;199;p6"/>
          <p:cNvSpPr txBox="1"/>
          <p:nvPr/>
        </p:nvSpPr>
        <p:spPr>
          <a:xfrm>
            <a:off x="1295425" y="5992988"/>
            <a:ext cx="9795900" cy="83095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400"/>
            </a:pPr>
            <a:r>
              <a:rPr lang="hu-HU" sz="2400">
                <a:solidFill>
                  <a:schemeClr val="lt1"/>
                </a:solidFill>
              </a:rPr>
              <a:t>     </a:t>
            </a:r>
            <a:r>
              <a:rPr lang="hu-HU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MySQL-ben Elmentett Felhasználói adatok </a:t>
            </a:r>
            <a:endParaRPr lang="en-US" dirty="0">
              <a:solidFill>
                <a:schemeClr val="lt1"/>
              </a:solidFill>
            </a:endParaRPr>
          </a:p>
          <a:p>
            <a:pPr>
              <a:buSzPts val="2400"/>
            </a:pPr>
            <a:r>
              <a:rPr lang="hu-HU" sz="2400">
                <a:solidFill>
                  <a:schemeClr val="lt1"/>
                </a:solidFill>
              </a:rPr>
              <a:t>       </a:t>
            </a:r>
            <a:r>
              <a:rPr lang="hu-HU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(Felhasználónév</a:t>
            </a:r>
            <a:r>
              <a:rPr lang="hu-HU" sz="2400">
                <a:solidFill>
                  <a:schemeClr val="lt1"/>
                </a:solidFill>
              </a:rPr>
              <a:t>, E-mail </a:t>
            </a:r>
            <a:r>
              <a:rPr lang="hu-HU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és </a:t>
            </a:r>
            <a:r>
              <a:rPr lang="hu-HU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Jelszó)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7790DD-847E-A97C-1B9A-6E5D2F096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1047750"/>
            <a:ext cx="4762500" cy="4762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be3f199dfa_0_0"/>
          <p:cNvSpPr txBox="1">
            <a:spLocks noGrp="1"/>
          </p:cNvSpPr>
          <p:nvPr>
            <p:ph type="title"/>
          </p:nvPr>
        </p:nvSpPr>
        <p:spPr>
          <a:xfrm>
            <a:off x="838200" y="0"/>
            <a:ext cx="10515600" cy="1466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37037"/>
              <a:buNone/>
            </a:pPr>
            <a:r>
              <a:rPr lang="hu-HU"/>
              <a:t>Egyszerű adatfeltöltés a 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37037"/>
              <a:buNone/>
            </a:pPr>
            <a:r>
              <a:rPr lang="hu-HU"/>
              <a:t>felhasználók számára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21C901-9D38-44AD-0DF3-42A80FCF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796" y="1470838"/>
            <a:ext cx="3664409" cy="51833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"/>
          <p:cNvSpPr txBox="1">
            <a:spLocks noGrp="1"/>
          </p:cNvSpPr>
          <p:nvPr>
            <p:ph type="title"/>
          </p:nvPr>
        </p:nvSpPr>
        <p:spPr>
          <a:xfrm>
            <a:off x="838200" y="1"/>
            <a:ext cx="10515600" cy="1603804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Corbel"/>
              <a:buNone/>
            </a:pPr>
            <a:r>
              <a:rPr lang="hu-HU"/>
              <a:t>Az SQL adatbázisunk kapcsolatai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32D1D4B-EBC7-F910-AA2A-1AF470C191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686" y="1603412"/>
            <a:ext cx="6246628" cy="49448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Arial"/>
              <a:buNone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Használt technológiák</a:t>
            </a:r>
            <a:endParaRPr/>
          </a:p>
        </p:txBody>
      </p:sp>
      <p:sp>
        <p:nvSpPr>
          <p:cNvPr id="206" name="Google Shape;206;p4"/>
          <p:cNvSpPr txBox="1"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PHP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CSS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JavaScript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2800"/>
              <a:buChar char="•"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SQL (MySQL)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"/>
          <p:cNvSpPr txBox="1">
            <a:spLocks noGrp="1"/>
          </p:cNvSpPr>
          <p:nvPr>
            <p:ph type="title"/>
          </p:nvPr>
        </p:nvSpPr>
        <p:spPr>
          <a:xfrm>
            <a:off x="838200" y="85725"/>
            <a:ext cx="10515600" cy="1325563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Arial"/>
              <a:buNone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Funkciók</a:t>
            </a:r>
            <a:endParaRPr/>
          </a:p>
        </p:txBody>
      </p:sp>
      <p:sp>
        <p:nvSpPr>
          <p:cNvPr id="212" name="Google Shape;212;p5"/>
          <p:cNvSpPr txBox="1">
            <a:spLocks noGrp="1"/>
          </p:cNvSpPr>
          <p:nvPr>
            <p:ph type="body" idx="1"/>
          </p:nvPr>
        </p:nvSpPr>
        <p:spPr>
          <a:xfrm>
            <a:off x="423333" y="1825625"/>
            <a:ext cx="11675534" cy="435133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3200"/>
              <a:buChar char="•"/>
            </a:pPr>
            <a:r>
              <a:rPr lang="hu-HU" sz="3200">
                <a:latin typeface="Arial"/>
                <a:ea typeface="Arial"/>
                <a:cs typeface="Arial"/>
                <a:sym typeface="Arial"/>
              </a:rPr>
              <a:t>Profil készítése és szerkesztése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3200"/>
              <a:buChar char="•"/>
            </a:pPr>
            <a:r>
              <a:rPr lang="hu-HU" sz="3200">
                <a:latin typeface="Arial"/>
                <a:ea typeface="Arial"/>
                <a:cs typeface="Arial"/>
                <a:sym typeface="Arial"/>
              </a:rPr>
              <a:t>Egyszerű felhasználó általi tartalom feltöltés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3200"/>
              <a:buChar char="•"/>
            </a:pPr>
            <a:r>
              <a:rPr lang="hu-HU" sz="3200">
                <a:latin typeface="Arial"/>
                <a:ea typeface="Arial"/>
                <a:cs typeface="Arial"/>
                <a:sym typeface="Arial"/>
              </a:rPr>
              <a:t>Kommentek írása más felhasználók által feltöltött tartalom alá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3200"/>
              <a:buChar char="•"/>
            </a:pPr>
            <a:r>
              <a:rPr lang="hu-HU" sz="3200">
                <a:latin typeface="Arial"/>
                <a:ea typeface="Arial"/>
                <a:cs typeface="Arial"/>
                <a:sym typeface="Arial"/>
              </a:rPr>
              <a:t>Oldal kinézetének testreszabása (sötét és világos téma)</a:t>
            </a:r>
            <a:endParaRPr/>
          </a:p>
          <a:p>
            <a:pPr marL="228600" lvl="0" indent="-25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3200"/>
              <a:buNone/>
            </a:pPr>
            <a:endParaRPr sz="3200">
              <a:latin typeface="Arial"/>
              <a:ea typeface="Arial"/>
              <a:cs typeface="Arial"/>
              <a:sym typeface="Arial"/>
            </a:endParaRPr>
          </a:p>
          <a:p>
            <a:pPr marL="228600" lvl="0" indent="-25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DEDED"/>
              </a:buClr>
              <a:buSzPts val="3200"/>
              <a:buNone/>
            </a:pPr>
            <a:endParaRPr sz="32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14394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Arial"/>
              <a:buNone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Az oldalunk Konyhai Fogalmak része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DD10D4-7B00-9C86-275B-2EEA4B9CE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976" y="1439383"/>
            <a:ext cx="9897139" cy="48564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be3f199dfa_1_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hu-HU"/>
              <a:t>Munkamegosztás</a:t>
            </a:r>
            <a:endParaRPr/>
          </a:p>
        </p:txBody>
      </p:sp>
      <p:sp>
        <p:nvSpPr>
          <p:cNvPr id="225" name="Google Shape;225;g3be3f199dfa_1_7"/>
          <p:cNvSpPr txBox="1">
            <a:spLocks noGrp="1"/>
          </p:cNvSpPr>
          <p:nvPr>
            <p:ph type="body" idx="1"/>
          </p:nvPr>
        </p:nvSpPr>
        <p:spPr>
          <a:xfrm>
            <a:off x="1119900" y="1833050"/>
            <a:ext cx="10233900" cy="43512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>
              <a:buNone/>
            </a:pPr>
            <a:r>
              <a:rPr lang="hu-HU"/>
              <a:t>Mikó Viktor: Frontend fejlesztése, és útmutató készítése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hu-HU"/>
              <a:t>Füleczki Mózes Márk: Backend fejlesztése, illetve a dokumentáció készítése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"/>
          <p:cNvSpPr txBox="1">
            <a:spLocks noGrp="1"/>
          </p:cNvSpPr>
          <p:nvPr>
            <p:ph type="title"/>
          </p:nvPr>
        </p:nvSpPr>
        <p:spPr>
          <a:xfrm>
            <a:off x="838200" y="1847"/>
            <a:ext cx="10515600" cy="734238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ct val="37037"/>
              <a:buNone/>
            </a:pPr>
            <a:r>
              <a:rPr lang="hu-HU"/>
              <a:t>További terveink a projekttel</a:t>
            </a:r>
            <a:endParaRPr/>
          </a:p>
        </p:txBody>
      </p:sp>
      <p:sp>
        <p:nvSpPr>
          <p:cNvPr id="231" name="Google Shape;231;p12"/>
          <p:cNvSpPr txBox="1">
            <a:spLocks noGrp="1"/>
          </p:cNvSpPr>
          <p:nvPr>
            <p:ph type="body" idx="1"/>
          </p:nvPr>
        </p:nvSpPr>
        <p:spPr>
          <a:xfrm>
            <a:off x="842012" y="735788"/>
            <a:ext cx="10180382" cy="5441037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/>
          </a:p>
          <a:p>
            <a:pPr>
              <a:spcBef>
                <a:spcPts val="0"/>
              </a:spcBef>
            </a:pPr>
            <a:r>
              <a:rPr lang="hu-HU"/>
              <a:t>Kommentek, és receptek szerkesztésének hozzáadása.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>
              <a:spcBef>
                <a:spcPts val="0"/>
              </a:spcBef>
            </a:pPr>
            <a:r>
              <a:rPr lang="hu-HU"/>
              <a:t>Receptek megoszthatóságának egyszerűbbé tétele: (Instagram, Facebook, Twitter / X instant megosztás)</a:t>
            </a:r>
          </a:p>
          <a:p>
            <a:pPr>
              <a:spcBef>
                <a:spcPts val="0"/>
              </a:spcBef>
            </a:pPr>
            <a:endParaRPr lang="hu-HU" dirty="0"/>
          </a:p>
          <a:p>
            <a:pPr>
              <a:spcBef>
                <a:spcPts val="0"/>
              </a:spcBef>
            </a:pPr>
            <a:r>
              <a:rPr lang="hu-HU"/>
              <a:t>Felhasználói profilok státuszainak hozzáadása: </a:t>
            </a:r>
            <a:endParaRPr lang="hu-HU" dirty="0"/>
          </a:p>
          <a:p>
            <a:pPr marL="114300" indent="0">
              <a:spcBef>
                <a:spcPts val="0"/>
              </a:spcBef>
              <a:buNone/>
            </a:pPr>
            <a:r>
              <a:rPr lang="hu-HU"/>
              <a:t> Korlátozás nélküli felhasználó</a:t>
            </a:r>
          </a:p>
          <a:p>
            <a:pPr marL="114300" indent="0">
              <a:spcBef>
                <a:spcPts val="0"/>
              </a:spcBef>
              <a:buNone/>
            </a:pPr>
            <a:r>
              <a:rPr lang="hu-HU"/>
              <a:t> Részben korlátozott (Egy hétig nem tölthet fel tartalmat, illetve  nem kommentelhet), </a:t>
            </a:r>
          </a:p>
          <a:p>
            <a:pPr marL="114300" indent="0">
              <a:spcBef>
                <a:spcPts val="0"/>
              </a:spcBef>
              <a:buNone/>
            </a:pPr>
            <a:r>
              <a:rPr lang="hu-HU"/>
              <a:t> Kitiltott (nem kommentelhet, tölthet fel recepteket és nem</a:t>
            </a:r>
          </a:p>
          <a:p>
            <a:pPr marL="114300" indent="0">
              <a:spcBef>
                <a:spcPts val="0"/>
              </a:spcBef>
              <a:buNone/>
            </a:pPr>
            <a:r>
              <a:rPr lang="hu-HU"/>
              <a:t> készíthet új profilt.)</a:t>
            </a:r>
            <a:endParaRPr lang="hu-HU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4"/>
          <p:cNvSpPr txBox="1">
            <a:spLocks noGrp="1"/>
          </p:cNvSpPr>
          <p:nvPr>
            <p:ph type="title"/>
          </p:nvPr>
        </p:nvSpPr>
        <p:spPr>
          <a:xfrm>
            <a:off x="838200" y="2634190"/>
            <a:ext cx="10515600" cy="1325563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/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EDED"/>
              </a:buClr>
              <a:buSzPts val="5400"/>
              <a:buFont typeface="Arial"/>
              <a:buNone/>
            </a:pPr>
            <a:r>
              <a:rPr lang="hu-HU">
                <a:latin typeface="Arial"/>
                <a:ea typeface="Arial"/>
                <a:cs typeface="Arial"/>
                <a:sym typeface="Arial"/>
              </a:rPr>
              <a:t>Köszönjük a figyelmet!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élység">
  <a:themeElements>
    <a:clrScheme name="Depth">
      <a:dk1>
        <a:srgbClr val="000000"/>
      </a:dk1>
      <a:lt1>
        <a:srgbClr val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17</Slides>
  <Notes>16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Mélység</vt:lpstr>
      <vt:lpstr>PowerPoint Presentation</vt:lpstr>
      <vt:lpstr>Bevezetés</vt:lpstr>
      <vt:lpstr>Miért csináljuk a projektet?</vt:lpstr>
      <vt:lpstr>A főoldalon véletlenszerű ajánlások érhetőek el, és rákattintáskor átirányít a recept oldalára</vt:lpstr>
      <vt:lpstr>Oldalunk  kategóriák szerinti kereséssel is rendelkezik</vt:lpstr>
      <vt:lpstr>PowerPoint Presentation</vt:lpstr>
      <vt:lpstr>A felhasználói profil kinézete saját szemszögből</vt:lpstr>
      <vt:lpstr>Admin panelünk kinézete</vt:lpstr>
      <vt:lpstr>Regisztráció</vt:lpstr>
      <vt:lpstr>Egyszerű adatfeltöltés a  felhasználók számára</vt:lpstr>
      <vt:lpstr>Az SQL adatbázisunk kapcsolatai</vt:lpstr>
      <vt:lpstr>Használt technológiák</vt:lpstr>
      <vt:lpstr>Funkciók</vt:lpstr>
      <vt:lpstr>Az oldalunk Konyhai Fogalmak része</vt:lpstr>
      <vt:lpstr>Munkamegosztás</vt:lpstr>
      <vt:lpstr>További terveink a projekttel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121</cp:revision>
  <dcterms:created xsi:type="dcterms:W3CDTF">2026-01-06T07:41:58Z</dcterms:created>
  <dcterms:modified xsi:type="dcterms:W3CDTF">2026-05-06T13:22:17Z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